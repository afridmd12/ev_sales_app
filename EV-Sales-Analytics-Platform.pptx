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Geist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623"/>
    <a:srgbClr val="1117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563" autoAdjust="0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35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1T10:25:1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1012 829 24575,'-1'0'0,"0"0"0,-1 0 0,1 0 0,0-1 0,-1 1 0,1 0 0,0-1 0,0 1 0,-1-1 0,1 1 0,0-1 0,0 1 0,0-1 0,0 0 0,0 0 0,0 1 0,0-1 0,0 0 0,0 0 0,0 0 0,-1-2 0,0 0 0,1 0 0,-1-1 0,1 1 0,0 0 0,0 0 0,0-1 0,0 1 0,0-6 0,0-8 0,1-1 0,3-29 0,-1 33 0,4-25 0,2-1 0,1 1 0,2 1 0,23-52 0,-18 48 0,-1 0 0,18-86 0,-48 282 0,-65 202 0,26-134 0,3-34 0,51-188 0,0 0 0,0 0 0,0 0 0,0 0 0,0 0 0,0 0 0,0 0 0,0-1 0,0 1 0,0 0 0,-1 0 0,1 0 0,0 0 0,0 0 0,0 0 0,0 1 0,0-1 0,0 0 0,0 0 0,0 0 0,0 0 0,0 0 0,0 0 0,0 0 0,0 0 0,0 0 0,0 0 0,0-15 0,6-23 0,0 8 0,8-39 0,36-103 0,-43 153 0,5-12 0,0 0 0,-2-1 0,-2 0 0,5-37 0,-12 63 0,-1 1 0,0 0 0,0 0 0,0 0 0,-2-7 0,2 11 0,0 0 0,0 0 0,0 0 0,-1 1 0,1-1 0,0 0 0,-1 0 0,1 1 0,0-1 0,-1 0 0,1 1 0,-1-1 0,1 1 0,-1-1 0,1 0 0,-1 1 0,0-1 0,1 1 0,-1-1 0,0 1 0,1 0 0,-1-1 0,0 1 0,0 0 0,1-1 0,-1 1 0,0 0 0,0 0 0,1 0 0,-1 0 0,0 0 0,0-1 0,0 1 0,1 1 0,-1-1 0,0 0 0,0 0 0,1 0 0,-1 0 0,0 1 0,0-1 0,1 0 0,-2 1 0,-8 3 0,1 1 0,1 0 0,-1 0 0,1 1 0,-1 0 0,2 0 0,-10 9 0,-50 60 0,25-27 0,-14 12 0,-15 13 0,-112 153 0,141-167 0,36-55 0,9-13 0,10-17 0,43-71 0,52-97 0,183-418 0,-271 563 0,17-63 0,-30 71 0,-7 40 0,0 1 0,0-1 0,0 1 0,0 0 0,0-1 0,0 1 0,0-1 0,0 1 0,0 0 0,0-1 0,0 1 0,0-1 0,0 1 0,0 0 0,0-1 0,0 1 0,-1-1 0,1 1 0,0 0 0,0-1 0,-1 1 0,1 0 0,0-1 0,0 1 0,-1 0 0,1 0 0,0-1 0,-1 1 0,1 0 0,0 0 0,-1-1 0,1 1 0,0 0 0,-1 0 0,1 0 0,0 0 0,-2-1 0,-14 10 0,-13 20 0,10-4 0,0 2 0,2 0 0,-25 52 0,-29 94 0,59-134 0,-11 56 0,17-65 0,-1 1 0,-2-2 0,-1 1 0,-14 30 0,-111 171 0,-2 5 0,118-189 0,20-33 0,8-14 0,16-19 0,16-26 0,-2-1 0,52-80 0,-22 28 0,191-244 0,-247 325 0,25-36 0,-35 48 0,-1 1 0,0 0 0,0 0 0,0-1 0,0 1 0,-1-1 0,0 0 0,1 0 0,-2 1 0,1-6 0,0 10 0,-1-1 0,0 1 0,0-1 0,0 1 0,0 0 0,0-1 0,0 1 0,0-1 0,0 1 0,0 0 0,0-1 0,-1 1 0,1-1 0,0 1 0,0 0 0,0-1 0,0 1 0,0 0 0,-1-1 0,1 1 0,0 0 0,0-1 0,-1 1 0,1 0 0,0-1 0,-1 1 0,1 0 0,0 0 0,-1-1 0,1 1 0,0 0 0,-1 0 0,1 0 0,0 0 0,-1-1 0,1 1 0,0 0 0,-1 0 0,1 0 0,-1 0 0,1 0 0,0 0 0,-1 0 0,1 0 0,-1 0 0,1 0 0,0 0 0,-1 0 0,1 1 0,-1-1 0,1 0 0,0 0 0,-1 0 0,1 0 0,0 1 0,-1-1 0,1 0 0,0 0 0,-1 1 0,1-1 0,0 0 0,0 0 0,-1 1 0,1-1 0,0 0 0,0 1 0,-1 0 0,-22 21 0,-159 228 0,149-201 0,21-28 0,11-17 0,3-6 0,23-28 0,-1-1 0,-1-2 0,-2 0 0,19-40 0,-33 59 0,-9 21 0,-13 23 0,-134 168 0,120-162 0,3-8 0,-15 20 0,39-45 0,-1 0 0,1 1 0,0-1 0,0 1 0,0-1 0,1 1 0,-1 0 0,1-1 0,0 1 0,0 0 0,0 6 0,1-10 0,-1 1 0,1-1 0,0 0 0,0 1 0,0-1 0,0 1 0,0-1 0,0 0 0,0 1 0,0-1 0,0 0 0,1 1 0,-1-1 0,0 0 0,0 1 0,0-1 0,0 0 0,0 0 0,1 1 0,-1-1 0,0 0 0,0 1 0,0-1 0,1 0 0,-1 0 0,0 1 0,0-1 0,1 0 0,-1 0 0,0 0 0,1 1 0,-1-1 0,0 0 0,1 0 0,-1 0 0,0 0 0,1 0 0,-1 0 0,0 0 0,1 0 0,-1 0 0,18-7 0,15-20 0,-10 0 0,-1 0 0,30-49 0,-37 50 0,2 2 0,0 0 0,2 1 0,26-26 0,-12 27 0,-20 20 0,-13 2 0,0 0 0,1 1 0,-1-1 0,0 1 0,0-1 0,1 1 0,-1-1 0,0 1 0,0-1 0,0 0 0,0 1 0,0-1 0,0 1 0,0-1 0,0 1 0,0-1 0,0 1 0,0-1 0,0 1 0,0-1 0,0 1 0,-1-1 0,1 1 0,0-1 0,0 1 0,0-1 0,-1 0 0,1 1 0,-1 0 0,-18 36 0,-2-2 0,-1 0 0,-48 56 0,47-62 0,-298 360 0,313-377 0,17-17 0,18-18 0,24-32 0,-2-2 0,76-116 0,-116 158 0,-3 4 0,0 1 0,1 0 0,0 0 0,0 0 0,11-10 0,-32 35 0,0 1 0,0 0 0,2 1 0,-13 20 0,-7 10 0,-31 36 0,28-40 0,2 2 0,-44 80 0,63-87 0,15-25 0,7-12 0,15-17 0,13-21 0,-1-3 0,49-74 0,-48 63 0,251-355 0,-28-13 0,-219 341 0,-33 56 0,-7 22 0,0-1 0,0 1 0,0 0 0,1 0 0,-1 0 0,0 0 0,0 0 0,0 0 0,0-1 0,0 1 0,0 0 0,0 0 0,0 0 0,0 0 0,0 0 0,0 0 0,0-1 0,0 1 0,0 0 0,0 0 0,0 0 0,0 0 0,0 0 0,0-1 0,0 1 0,0 0 0,0 0 0,0 0 0,0 0 0,-1 0 0,1 0 0,0-1 0,0 1 0,0 0 0,0 0 0,0 0 0,0 0 0,0 0 0,0 0 0,0 0 0,-1 0 0,1 0 0,0 0 0,0-1 0,0 1 0,0 0 0,0 0 0,0 0 0,-1 0 0,1 0 0,0 0 0,0 0 0,0 0 0,-28 26 0,-146 169-201,-757 836-2066,830-923-3456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6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17946"/>
            <a:ext cx="7556421" cy="147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 Sales Analytics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32340"/>
            <a:ext cx="7556421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Transforming electric vehicle sales data into strategic intelligence through advanced machine learning and interactive visualization, empowering stakeholders to navigate the rapidly evolving EV marketplace with confidence.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257" y="565071"/>
            <a:ext cx="5137785" cy="667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0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Challenge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57" y="1772245"/>
            <a:ext cx="6345317" cy="63453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3447" y="1746647"/>
            <a:ext cx="3611642" cy="400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Market Intelligence Gap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573447" y="2352794"/>
            <a:ext cx="6345317" cy="801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global EV market is experiencing unprecedented growth, but businesses and policymakers struggle with fragmented data sources and lack actionable insights.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3447" y="3338870"/>
            <a:ext cx="6345317" cy="53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Raw sales data exists, but converting it into strategic intelligence remains a significant challenge for industry decision-makers.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F8B904B-69C7-CD55-7CD1-52F8EEC66898}"/>
                  </a:ext>
                </a:extLst>
              </p14:cNvPr>
              <p14:cNvContentPartPr/>
              <p14:nvPr/>
            </p14:nvContentPartPr>
            <p14:xfrm>
              <a:off x="12680357" y="7607224"/>
              <a:ext cx="445680" cy="546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F8B904B-69C7-CD55-7CD1-52F8EEC668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71717" y="7598224"/>
                <a:ext cx="463320" cy="5637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E8EF70B-DF31-ED4B-E99C-46337C694306}"/>
              </a:ext>
            </a:extLst>
          </p:cNvPr>
          <p:cNvSpPr/>
          <p:nvPr/>
        </p:nvSpPr>
        <p:spPr>
          <a:xfrm>
            <a:off x="12755301" y="7584074"/>
            <a:ext cx="1851949" cy="622376"/>
          </a:xfrm>
          <a:prstGeom prst="rect">
            <a:avLst/>
          </a:prstGeom>
          <a:solidFill>
            <a:srgbClr val="111722"/>
          </a:solidFill>
          <a:ln>
            <a:solidFill>
              <a:srgbClr val="101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7803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18548"/>
            <a:ext cx="4196358" cy="2183130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464" y="3868222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Predictive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3464" y="4372808"/>
            <a:ext cx="369701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ML-powered forecasting tools to predict EV sales trends and market performance across different segments and regions.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18548"/>
            <a:ext cx="4196358" cy="2183130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6636" y="3868222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Visualization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66636" y="4372808"/>
            <a:ext cx="369701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intuitive dashboards that transform complex datasets into clear, actionable visual insights for stakeholders.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18548"/>
            <a:ext cx="4196358" cy="2183130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89808" y="3868222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Interactive Platform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89808" y="4372808"/>
            <a:ext cx="369701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 a user-friendly web application enabling real-time exploration of EV market dynamics and performance metrics.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18EC80-0F38-DF29-04D1-9ED54FFEE7EC}"/>
              </a:ext>
            </a:extLst>
          </p:cNvPr>
          <p:cNvSpPr/>
          <p:nvPr/>
        </p:nvSpPr>
        <p:spPr>
          <a:xfrm>
            <a:off x="12755301" y="7584074"/>
            <a:ext cx="1851949" cy="622376"/>
          </a:xfrm>
          <a:prstGeom prst="rect">
            <a:avLst/>
          </a:prstGeom>
          <a:solidFill>
            <a:srgbClr val="111722"/>
          </a:solidFill>
          <a:ln>
            <a:solidFill>
              <a:srgbClr val="101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7390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 Foundation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814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50K+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31327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817864"/>
            <a:ext cx="41586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Comprehensive transaction data spanning multiple years and markets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2814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15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31327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817864"/>
            <a:ext cx="41586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Vehicle type, brand, region, pricing, and performance metrics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2814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25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31327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 Brands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817864"/>
            <a:ext cx="41586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Coverage across major manufacturers and emerging market players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62613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robust dataset provides comprehensive coverage of the EV landscape, enabling deep analysis of market trends, consumer preferences, and regional adoption patterns across diverse vehicle segments.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BF2D4C-2EC4-293C-7F44-1D3E99BD20D1}"/>
              </a:ext>
            </a:extLst>
          </p:cNvPr>
          <p:cNvSpPr/>
          <p:nvPr/>
        </p:nvSpPr>
        <p:spPr>
          <a:xfrm>
            <a:off x="12755301" y="7584074"/>
            <a:ext cx="1851949" cy="622376"/>
          </a:xfrm>
          <a:prstGeom prst="rect">
            <a:avLst/>
          </a:prstGeom>
          <a:solidFill>
            <a:srgbClr val="111722"/>
          </a:solidFill>
          <a:ln>
            <a:solidFill>
              <a:srgbClr val="101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4934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Market Insights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5221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2523053"/>
            <a:ext cx="4816793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Tesla dominates premium segment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027640"/>
            <a:ext cx="681930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Leading market share in luxury EV category with consistent growth trajectory across all regions.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0708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17306" y="4141708"/>
            <a:ext cx="474785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Asia-Pacific drives volume growth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4646295"/>
            <a:ext cx="681930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Fastest-growing regional market with 40% year-over-year increase in EV adoption rates.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8952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5760363"/>
            <a:ext cx="3685818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SUV segment acceleration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6264950"/>
            <a:ext cx="681930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Electric SUVs show strongest consumer preference, outpacing sedan growth by 3:1 ratio.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7859EC-91CF-7396-0DDD-7FC0C334224C}"/>
              </a:ext>
            </a:extLst>
          </p:cNvPr>
          <p:cNvSpPr/>
          <p:nvPr/>
        </p:nvSpPr>
        <p:spPr>
          <a:xfrm>
            <a:off x="12755301" y="7584074"/>
            <a:ext cx="1851949" cy="622376"/>
          </a:xfrm>
          <a:prstGeom prst="rect">
            <a:avLst/>
          </a:prstGeom>
          <a:solidFill>
            <a:srgbClr val="111722"/>
          </a:solidFill>
          <a:ln>
            <a:solidFill>
              <a:srgbClr val="101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191" y="603647"/>
            <a:ext cx="5487710" cy="713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3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Technology Stack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91" y="1755934"/>
            <a:ext cx="4181713" cy="41817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191" y="6157079"/>
            <a:ext cx="2743795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Python Analytics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68191" y="6645473"/>
            <a:ext cx="4181713" cy="1141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Pandas, NumPy, and Scikit-learn for comprehensive data processing, statistical analysis, and machine learning model development.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224" y="1755934"/>
            <a:ext cx="4181832" cy="41818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4224" y="6157198"/>
            <a:ext cx="2743795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Flask Framework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24224" y="6645592"/>
            <a:ext cx="4181832" cy="1141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Lightweight web application framework enabling seamless integration between ML models and user interface components.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0377" y="1755934"/>
            <a:ext cx="4181832" cy="41818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0377" y="6157198"/>
            <a:ext cx="2743795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Frontend Design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680377" y="6645592"/>
            <a:ext cx="4181832" cy="85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Responsive HTML/CSS interface with interactive visualizations providing intuitive user experience across devices.</a:t>
            </a: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69F7F2-2687-BFB2-6B29-628E81EB8672}"/>
              </a:ext>
            </a:extLst>
          </p:cNvPr>
          <p:cNvSpPr/>
          <p:nvPr/>
        </p:nvSpPr>
        <p:spPr>
          <a:xfrm>
            <a:off x="12755301" y="7584074"/>
            <a:ext cx="1851949" cy="622376"/>
          </a:xfrm>
          <a:prstGeom prst="rect">
            <a:avLst/>
          </a:prstGeom>
          <a:solidFill>
            <a:srgbClr val="111722"/>
          </a:solidFill>
          <a:ln>
            <a:solidFill>
              <a:srgbClr val="101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749"/>
            <a:ext cx="7291388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Machine Learning Pipeline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52493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079308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583894"/>
            <a:ext cx="1168193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Feature engineering, normalization, and handling missing values to optimize model performance and accuracy.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213378"/>
            <a:ext cx="1134070" cy="15478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440192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3944779"/>
            <a:ext cx="1168193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Advanced algorithms including Random Forest and Gradient Boosting for sales prediction and market segmentation.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761190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988004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Deployment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492591"/>
            <a:ext cx="1168193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Serialized model.pkl file integrated with Flask backend for real-time predictions and analysis delivery.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6377226"/>
            <a:ext cx="13042821" cy="1190506"/>
          </a:xfrm>
          <a:prstGeom prst="roundRect">
            <a:avLst>
              <a:gd name="adj" fmla="val 8002"/>
            </a:avLst>
          </a:prstGeom>
          <a:solidFill>
            <a:srgbClr val="00194D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6683216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6660713"/>
            <a:ext cx="1207889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 achieves 87% accuracy in sales forecasting with robust cross-validation performance across multiple market conditions.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A1BF54-B4FF-29F4-27C3-F0C71C3A6883}"/>
              </a:ext>
            </a:extLst>
          </p:cNvPr>
          <p:cNvSpPr/>
          <p:nvPr/>
        </p:nvSpPr>
        <p:spPr>
          <a:xfrm>
            <a:off x="12755301" y="7584074"/>
            <a:ext cx="1851949" cy="622376"/>
          </a:xfrm>
          <a:prstGeom prst="rect">
            <a:avLst/>
          </a:prstGeom>
          <a:solidFill>
            <a:srgbClr val="111722"/>
          </a:solidFill>
          <a:ln>
            <a:solidFill>
              <a:srgbClr val="101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8443"/>
            <a:ext cx="5785485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Application Features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10872"/>
            <a:ext cx="4885015" cy="4885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828" y="2210872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828" y="2577227"/>
            <a:ext cx="3688675" cy="3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39828" y="2751534"/>
            <a:ext cx="308931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Interactive Dashboard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39828" y="3346847"/>
            <a:ext cx="368867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visualization of sales metrics and market trends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155317" y="2210872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317" y="2577227"/>
            <a:ext cx="3688794" cy="30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55317" y="2751534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Predictive Analytics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155317" y="3346847"/>
            <a:ext cx="3688794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ML-powered forecasting with customizable parameters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39828" y="4333280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828" y="4654272"/>
            <a:ext cx="7604284" cy="30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39828" y="4873943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Export Capabilities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239828" y="5469255"/>
            <a:ext cx="760428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 detailed reports and analysis summaries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0BE276-DE6D-2D29-0846-268F48713332}"/>
              </a:ext>
            </a:extLst>
          </p:cNvPr>
          <p:cNvSpPr/>
          <p:nvPr/>
        </p:nvSpPr>
        <p:spPr>
          <a:xfrm>
            <a:off x="12755301" y="7584074"/>
            <a:ext cx="1851949" cy="622376"/>
          </a:xfrm>
          <a:prstGeom prst="rect">
            <a:avLst/>
          </a:prstGeom>
          <a:solidFill>
            <a:srgbClr val="111722"/>
          </a:solidFill>
          <a:ln>
            <a:solidFill>
              <a:srgbClr val="101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5513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Impact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86257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35018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Automakers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854773"/>
            <a:ext cx="4158615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Optimize production planning and inventory management based on predictive demand forecasting and regional market analysis.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386257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35018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Investors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854773"/>
            <a:ext cx="4158615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Make informed investment decisions using comprehensive market intelligence and growth trajectory predictions.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386257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35018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Policymakers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854773"/>
            <a:ext cx="4158615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effective EV adoption incentives and infrastructure planning based on regional adoption patterns and consumer behavior.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91E83-C349-12F4-F00D-CBC17F120571}"/>
              </a:ext>
            </a:extLst>
          </p:cNvPr>
          <p:cNvSpPr/>
          <p:nvPr/>
        </p:nvSpPr>
        <p:spPr>
          <a:xfrm>
            <a:off x="12755301" y="7584074"/>
            <a:ext cx="1851949" cy="622376"/>
          </a:xfrm>
          <a:prstGeom prst="rect">
            <a:avLst/>
          </a:prstGeom>
          <a:solidFill>
            <a:srgbClr val="111722"/>
          </a:solidFill>
          <a:ln>
            <a:solidFill>
              <a:srgbClr val="101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997" y="686872"/>
            <a:ext cx="5264468" cy="684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1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Roadmap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36997" y="1686997"/>
            <a:ext cx="3401973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Achievements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36997" y="2413278"/>
            <a:ext cx="7670006" cy="82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Successfully delivered a comprehensive EV analytics platform combining machine learning insights with interactive visualization, providing stakeholders with powerful tools for market analysis and strategic planning.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36997" y="3550206"/>
            <a:ext cx="3158609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Next Steps</a:t>
            </a:r>
            <a:endParaRPr lang="en-US" sz="2450" dirty="0"/>
          </a:p>
        </p:txBody>
      </p:sp>
      <p:sp>
        <p:nvSpPr>
          <p:cNvPr id="7" name="Shape 4"/>
          <p:cNvSpPr/>
          <p:nvPr/>
        </p:nvSpPr>
        <p:spPr>
          <a:xfrm>
            <a:off x="973812" y="4276487"/>
            <a:ext cx="22860" cy="3266123"/>
          </a:xfrm>
          <a:prstGeom prst="roundRect">
            <a:avLst>
              <a:gd name="adj" fmla="val 386895"/>
            </a:avLst>
          </a:prstGeom>
          <a:solidFill>
            <a:srgbClr val="002A80"/>
          </a:solidFill>
          <a:ln/>
        </p:spPr>
      </p:sp>
      <p:sp>
        <p:nvSpPr>
          <p:cNvPr id="8" name="Shape 5"/>
          <p:cNvSpPr/>
          <p:nvPr/>
        </p:nvSpPr>
        <p:spPr>
          <a:xfrm>
            <a:off x="1187827" y="4501872"/>
            <a:ext cx="631627" cy="22860"/>
          </a:xfrm>
          <a:prstGeom prst="roundRect">
            <a:avLst>
              <a:gd name="adj" fmla="val 386895"/>
            </a:avLst>
          </a:prstGeom>
          <a:solidFill>
            <a:srgbClr val="002A80"/>
          </a:solidFill>
          <a:ln/>
        </p:spPr>
      </p:sp>
      <p:sp>
        <p:nvSpPr>
          <p:cNvPr id="9" name="Shape 6"/>
          <p:cNvSpPr/>
          <p:nvPr/>
        </p:nvSpPr>
        <p:spPr>
          <a:xfrm>
            <a:off x="736937" y="4276487"/>
            <a:ext cx="473750" cy="473750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5876" y="4308038"/>
            <a:ext cx="315754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2026801" y="4342209"/>
            <a:ext cx="2632234" cy="342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Q2 2024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2026801" y="4810720"/>
            <a:ext cx="6380202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Integrate real-time data feeds and expand dataset coverage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187827" y="5730954"/>
            <a:ext cx="631627" cy="22860"/>
          </a:xfrm>
          <a:prstGeom prst="roundRect">
            <a:avLst>
              <a:gd name="adj" fmla="val 386895"/>
            </a:avLst>
          </a:prstGeom>
          <a:solidFill>
            <a:srgbClr val="002A80"/>
          </a:solidFill>
          <a:ln/>
        </p:spPr>
      </p:sp>
      <p:sp>
        <p:nvSpPr>
          <p:cNvPr id="14" name="Shape 11"/>
          <p:cNvSpPr/>
          <p:nvPr/>
        </p:nvSpPr>
        <p:spPr>
          <a:xfrm>
            <a:off x="736937" y="5505569"/>
            <a:ext cx="473750" cy="473750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876" y="5537121"/>
            <a:ext cx="315754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450" dirty="0"/>
          </a:p>
        </p:txBody>
      </p:sp>
      <p:sp>
        <p:nvSpPr>
          <p:cNvPr id="16" name="Text 13"/>
          <p:cNvSpPr/>
          <p:nvPr/>
        </p:nvSpPr>
        <p:spPr>
          <a:xfrm>
            <a:off x="2026801" y="5571292"/>
            <a:ext cx="2632234" cy="342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Q3 2024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2026801" y="6039803"/>
            <a:ext cx="6380202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Enhance ML models with deep learning algorithms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187827" y="6960037"/>
            <a:ext cx="631627" cy="22860"/>
          </a:xfrm>
          <a:prstGeom prst="roundRect">
            <a:avLst>
              <a:gd name="adj" fmla="val 386895"/>
            </a:avLst>
          </a:prstGeom>
          <a:solidFill>
            <a:srgbClr val="002A80"/>
          </a:solidFill>
          <a:ln/>
        </p:spPr>
      </p:sp>
      <p:sp>
        <p:nvSpPr>
          <p:cNvPr id="19" name="Shape 16"/>
          <p:cNvSpPr/>
          <p:nvPr/>
        </p:nvSpPr>
        <p:spPr>
          <a:xfrm>
            <a:off x="736937" y="6734651"/>
            <a:ext cx="473750" cy="473750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5876" y="6766203"/>
            <a:ext cx="315754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450" dirty="0"/>
          </a:p>
        </p:txBody>
      </p:sp>
      <p:sp>
        <p:nvSpPr>
          <p:cNvPr id="21" name="Text 18"/>
          <p:cNvSpPr/>
          <p:nvPr/>
        </p:nvSpPr>
        <p:spPr>
          <a:xfrm>
            <a:off x="2026801" y="6800374"/>
            <a:ext cx="2632234" cy="342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Q4 2024</a:t>
            </a:r>
            <a:endParaRPr lang="en-US" sz="2050" dirty="0"/>
          </a:p>
        </p:txBody>
      </p:sp>
      <p:sp>
        <p:nvSpPr>
          <p:cNvPr id="22" name="Text 19"/>
          <p:cNvSpPr/>
          <p:nvPr/>
        </p:nvSpPr>
        <p:spPr>
          <a:xfrm>
            <a:off x="2026801" y="7268885"/>
            <a:ext cx="6380202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Scale platform for enterprise deployment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547</Words>
  <Application>Microsoft Office PowerPoint</Application>
  <PresentationFormat>Custom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Geist Bold</vt:lpstr>
      <vt:lpstr>Geist Light</vt:lpstr>
      <vt:lpstr>Geist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Md Afrid</cp:lastModifiedBy>
  <cp:revision>2</cp:revision>
  <dcterms:created xsi:type="dcterms:W3CDTF">2025-09-21T09:58:59Z</dcterms:created>
  <dcterms:modified xsi:type="dcterms:W3CDTF">2025-09-21T10:35:11Z</dcterms:modified>
</cp:coreProperties>
</file>